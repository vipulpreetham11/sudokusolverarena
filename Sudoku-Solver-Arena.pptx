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Exo" panose="020B0604020202020204" charset="0"/>
      <p:regular r:id="rId10"/>
    </p:embeddedFont>
    <p:embeddedFont>
      <p:font typeface="Exo Bold" panose="020B0604020202020204" charset="0"/>
      <p:regular r:id="rId11"/>
    </p:embeddedFont>
    <p:embeddedFont>
      <p:font typeface="Exo Medium" panose="020B0604020202020204" charset="0"/>
      <p:regular r:id="rId12"/>
    </p:embeddedFont>
    <p:embeddedFont>
      <p:font typeface="Exo SemiBold" panose="020B0604020202020204" charset="0"/>
      <p:regular r:id="rId13"/>
    </p:embeddedFont>
    <p:embeddedFont>
      <p:font typeface="Fira Mono" panose="020B0509050000020004" pitchFamily="49" charset="0"/>
      <p:regular r:id="rId14"/>
    </p:embeddedFont>
    <p:embeddedFont>
      <p:font typeface="Fira Mono Medium" panose="020B0609050000020004" pitchFamily="49" charset="0"/>
      <p:regular r:id="rId15"/>
    </p:embeddedFont>
    <p:embeddedFont>
      <p:font typeface="Michroma" panose="020B0604020202020204" charset="0"/>
      <p:regular r:id="rId16"/>
    </p:embeddedFont>
    <p:embeddedFont>
      <p:font typeface="MuseoModerno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31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60509" y="1297051"/>
            <a:ext cx="8026199" cy="2005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8400" b="1" kern="100" spc="-336" dirty="0">
                <a:solidFill>
                  <a:srgbClr val="FFFFFF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SUDOKU</a:t>
            </a:r>
            <a:endParaRPr lang="en-US" sz="8400" dirty="0"/>
          </a:p>
          <a:p>
            <a:pPr marL="0" indent="0" algn="l">
              <a:lnSpc>
                <a:spcPct val="78000"/>
              </a:lnSpc>
              <a:buNone/>
            </a:pPr>
            <a:r>
              <a:rPr lang="en-US" sz="8400" b="1" kern="100" spc="-336" dirty="0">
                <a:solidFill>
                  <a:srgbClr val="FFFFFF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SOLVER ARENA</a:t>
            </a:r>
            <a:endParaRPr lang="en-US" sz="8400" dirty="0"/>
          </a:p>
        </p:txBody>
      </p:sp>
      <p:sp>
        <p:nvSpPr>
          <p:cNvPr id="4" name="Shape 2"/>
          <p:cNvSpPr/>
          <p:nvPr/>
        </p:nvSpPr>
        <p:spPr>
          <a:xfrm>
            <a:off x="960509" y="3590194"/>
            <a:ext cx="2006550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960508" y="3996592"/>
            <a:ext cx="8026199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See how the algorithm thinks, not just the final answer. </a:t>
            </a:r>
            <a:endParaRPr lang="en-US" sz="19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769BDFA-FAC9-204E-32B2-3ABB23D8A0C6}"/>
              </a:ext>
            </a:extLst>
          </p:cNvPr>
          <p:cNvSpPr/>
          <p:nvPr/>
        </p:nvSpPr>
        <p:spPr>
          <a:xfrm>
            <a:off x="960509" y="5109978"/>
            <a:ext cx="8026199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/>
              <a:t>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6C0333-635F-E9FA-7A26-7495B48BE21C}"/>
              </a:ext>
            </a:extLst>
          </p:cNvPr>
          <p:cNvSpPr txBox="1"/>
          <p:nvPr/>
        </p:nvSpPr>
        <p:spPr>
          <a:xfrm>
            <a:off x="960509" y="5060127"/>
            <a:ext cx="36090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Sai Charan Reddy – 25MVCSMR0029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 err="1">
                <a:solidFill>
                  <a:schemeClr val="bg2"/>
                </a:solidFill>
              </a:rPr>
              <a:t>Yellappa</a:t>
            </a:r>
            <a:r>
              <a:rPr lang="en-US" dirty="0">
                <a:solidFill>
                  <a:schemeClr val="bg2"/>
                </a:solidFill>
              </a:rPr>
              <a:t> Naidu – 25MVCSMR0046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Sri Varshith – 25MVCSMR0059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Vipul Preetham – 25MVCSMR0087</a:t>
            </a:r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E83514-40F5-A30C-6C85-70D6F0B9D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734" y="6581736"/>
            <a:ext cx="2086266" cy="2762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2409924"/>
            <a:ext cx="4343291" cy="177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91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01 · THE GAP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3387" y="2662337"/>
            <a:ext cx="3911502" cy="583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300" kern="100" spc="-51" dirty="0">
                <a:solidFill>
                  <a:srgbClr val="D5D5D5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The Challenge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533387" y="3482578"/>
            <a:ext cx="977876" cy="1905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3717131"/>
            <a:ext cx="3911502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Traditional solvers show input and final answer while hiding decisions, candidate checks, contradictions, and backtracking.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59266" y="533400"/>
            <a:ext cx="6349841" cy="927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400" kern="100" spc="-41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The challenge is the reasoning layer.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359266" y="1694557"/>
            <a:ext cx="1587460" cy="1905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266" y="2157710"/>
            <a:ext cx="371565" cy="3715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59266" y="2707084"/>
            <a:ext cx="2997125" cy="386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7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CONSTRAINT MANAGEMENT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359266" y="3229273"/>
            <a:ext cx="2997125" cy="521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Every candidate must respect row, column, and 3×3 box rules.</a:t>
            </a:r>
            <a:endParaRPr lang="en-US" sz="14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5815" y="2157710"/>
            <a:ext cx="371565" cy="3715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62781" y="2707084"/>
            <a:ext cx="2717732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7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SEARCH EXPLOSION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762781" y="3036094"/>
            <a:ext cx="2717732" cy="521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Too many choices create a branching search space.</a:t>
            </a:r>
            <a:endParaRPr lang="en-US" sz="14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2781" y="3557191"/>
            <a:ext cx="2717732" cy="609600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9266" y="4573191"/>
            <a:ext cx="371565" cy="3715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59266" y="5122565"/>
            <a:ext cx="2997125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7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ROLLBACK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5359266" y="5451574"/>
            <a:ext cx="2997125" cy="521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 wrong choice must be undone without losing the valid path.</a:t>
            </a:r>
            <a:endParaRPr lang="en-US" sz="14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1982" y="4573191"/>
            <a:ext cx="371565" cy="3715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11982" y="5122565"/>
            <a:ext cx="2997125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7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8711982" y="5451574"/>
            <a:ext cx="2997125" cy="521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solver should make its decisions inspectable, not invisible.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8527837" y="1929110"/>
            <a:ext cx="12700" cy="246628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3" name="Shape 16"/>
          <p:cNvSpPr/>
          <p:nvPr/>
        </p:nvSpPr>
        <p:spPr>
          <a:xfrm>
            <a:off x="5359266" y="4389041"/>
            <a:ext cx="3174921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4" name="Shape 17"/>
          <p:cNvSpPr/>
          <p:nvPr/>
        </p:nvSpPr>
        <p:spPr>
          <a:xfrm>
            <a:off x="8527837" y="4395391"/>
            <a:ext cx="12700" cy="246628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5" name="Shape 18"/>
          <p:cNvSpPr/>
          <p:nvPr/>
        </p:nvSpPr>
        <p:spPr>
          <a:xfrm>
            <a:off x="8534187" y="4389041"/>
            <a:ext cx="3174921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6" name="Text 19"/>
          <p:cNvSpPr/>
          <p:nvPr/>
        </p:nvSpPr>
        <p:spPr>
          <a:xfrm>
            <a:off x="11405307" y="6460827"/>
            <a:ext cx="786388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kern="100" spc="82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02</a:t>
            </a:r>
            <a:endParaRPr lang="en-US" sz="1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8717BE4-C24B-541C-AE10-FF59EE4001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5429" y="6507341"/>
            <a:ext cx="2086266" cy="276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58800"/>
            <a:ext cx="629904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02 · OUR INNOVATION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19745"/>
            <a:ext cx="5867253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Our Innovation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09585" y="3070324"/>
            <a:ext cx="5867253" cy="150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Record and replay every major solving action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Visualize row, column, and 3×3 box checks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Replay failed decisions and backtracking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Compare Basic Backtracking with Backtracking using decisions, backtracks, checks, depth, and time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00743" y="6458545"/>
            <a:ext cx="790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03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0DD8FB-AE1A-A631-6B2F-BD113B275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429" y="6553199"/>
            <a:ext cx="2086266" cy="276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31501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03 · 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0545"/>
            <a:ext cx="6705432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Follow one choice through the solver.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2064544"/>
            <a:ext cx="1676358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60116"/>
            <a:ext cx="6791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Exo Medium" pitchFamily="34" charset="0"/>
                <a:ea typeface="Exo Medium" pitchFamily="34" charset="-122"/>
                <a:cs typeface="Exo Medium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6931" y="2320131"/>
            <a:ext cx="645808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Input and validate the puzzle.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3087787"/>
            <a:ext cx="7221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Exo Medium" pitchFamily="34" charset="0"/>
                <a:ea typeface="Exo Medium" pitchFamily="34" charset="-122"/>
                <a:cs typeface="Exo Medium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9991" y="3047802"/>
            <a:ext cx="641502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Select an empty cell and generate candidates.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585" y="3815457"/>
            <a:ext cx="7207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Exo Medium" pitchFamily="34" charset="0"/>
                <a:ea typeface="Exo Medium" pitchFamily="34" charset="-122"/>
                <a:cs typeface="Exo Medium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8503" y="3775472"/>
            <a:ext cx="6416514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Check row, column, and 3×3 box constraints.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585" y="4543127"/>
            <a:ext cx="7242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Exo Medium" pitchFamily="34" charset="0"/>
                <a:ea typeface="Exo Medium" pitchFamily="34" charset="-122"/>
                <a:cs typeface="Exo Medium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02074" y="4503142"/>
            <a:ext cx="641294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Place a valid value; on contradiction, undo and try another.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585" y="5270798"/>
            <a:ext cx="72834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Exo Medium" pitchFamily="34" charset="0"/>
                <a:ea typeface="Exo Medium" pitchFamily="34" charset="-122"/>
                <a:cs typeface="Exo Medium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6142" y="5230813"/>
            <a:ext cx="640887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Continue until solved or proven unsolvable.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585" y="5679083"/>
            <a:ext cx="670543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LIVE REPLAY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585" y="5974953"/>
            <a:ext cx="670543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r4c5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→ {2, 6, 8} → try 6 → contradiction → undo → try 8.</a:t>
            </a:r>
            <a:endParaRPr lang="en-US" sz="15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602" y="0"/>
            <a:ext cx="4267093" cy="6858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9585" y="6458545"/>
            <a:ext cx="790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58800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TECHNOLOGY &amp; 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19745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100" spc="-53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Technology &amp; Algorithm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614488"/>
            <a:ext cx="5333867" cy="2215356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843088"/>
            <a:ext cx="487667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PYTHON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179" y="2184003"/>
            <a:ext cx="48766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</a:rPr>
              <a:t>Core Language- Pure –function, Backtracking Solver, No External Solver libraries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8244" y="1614488"/>
            <a:ext cx="5333867" cy="2215356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1843088"/>
            <a:ext cx="487667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 err="1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6838" y="2184003"/>
            <a:ext cx="48766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</a:rPr>
              <a:t>Reactive web UI – grid </a:t>
            </a:r>
            <a:r>
              <a:rPr lang="en-US" sz="1500" dirty="0" err="1">
                <a:solidFill>
                  <a:srgbClr val="D5D5D5"/>
                </a:solidFill>
                <a:latin typeface="Exo" pitchFamily="34" charset="0"/>
              </a:rPr>
              <a:t>input,controls,and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</a:rPr>
              <a:t> live place holders for the running solve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585" y="4134644"/>
            <a:ext cx="5333867" cy="2215356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4363244"/>
            <a:ext cx="487667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Core logic module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8179" y="4704159"/>
            <a:ext cx="48766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 err="1">
                <a:solidFill>
                  <a:schemeClr val="bg2"/>
                </a:solidFill>
              </a:rPr>
              <a:t>find_empty</a:t>
            </a:r>
            <a:r>
              <a:rPr lang="en-US" sz="1500" dirty="0">
                <a:solidFill>
                  <a:schemeClr val="bg2"/>
                </a:solidFill>
              </a:rPr>
              <a:t>(), </a:t>
            </a:r>
            <a:r>
              <a:rPr lang="en-US" sz="1500" dirty="0" err="1">
                <a:solidFill>
                  <a:schemeClr val="bg2"/>
                </a:solidFill>
              </a:rPr>
              <a:t>isvalid</a:t>
            </a:r>
            <a:r>
              <a:rPr lang="en-US" sz="1500" dirty="0">
                <a:solidFill>
                  <a:schemeClr val="bg2"/>
                </a:solidFill>
              </a:rPr>
              <a:t>(),</a:t>
            </a:r>
            <a:r>
              <a:rPr lang="en-US" sz="1500" dirty="0" err="1">
                <a:solidFill>
                  <a:schemeClr val="bg2"/>
                </a:solidFill>
              </a:rPr>
              <a:t>find_conflicts</a:t>
            </a:r>
            <a:r>
              <a:rPr lang="en-US" sz="1500" dirty="0">
                <a:solidFill>
                  <a:schemeClr val="bg2"/>
                </a:solidFill>
              </a:rPr>
              <a:t>(), </a:t>
            </a:r>
            <a:r>
              <a:rPr lang="en-US" sz="1500" dirty="0" err="1">
                <a:solidFill>
                  <a:schemeClr val="bg2"/>
                </a:solidFill>
              </a:rPr>
              <a:t>solve_with_steps</a:t>
            </a:r>
            <a:r>
              <a:rPr lang="en-US" sz="1500" dirty="0">
                <a:solidFill>
                  <a:schemeClr val="bg2"/>
                </a:solidFill>
              </a:rPr>
              <a:t>()—isolated from the UI layer</a:t>
            </a:r>
          </a:p>
        </p:txBody>
      </p:sp>
      <p:sp>
        <p:nvSpPr>
          <p:cNvPr id="13" name="Shape 11"/>
          <p:cNvSpPr/>
          <p:nvPr/>
        </p:nvSpPr>
        <p:spPr>
          <a:xfrm>
            <a:off x="6248244" y="4134644"/>
            <a:ext cx="5333867" cy="2215356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14" name="Text 12"/>
          <p:cNvSpPr/>
          <p:nvPr/>
        </p:nvSpPr>
        <p:spPr>
          <a:xfrm>
            <a:off x="6476838" y="4363244"/>
            <a:ext cx="487667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Step replay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6838" y="4704159"/>
            <a:ext cx="48766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Recorded step log is replayed through </a:t>
            </a:r>
            <a:r>
              <a:rPr lang="en-US" sz="1500" dirty="0" err="1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st.empty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(),</a:t>
            </a:r>
            <a:r>
              <a:rPr lang="en-US" sz="1500" dirty="0" err="1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palceholders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with adjustable delay and sampling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00743" y="6458545"/>
            <a:ext cx="790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05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27F526-1749-6D91-91EC-C6AACEF4F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429" y="6516668"/>
            <a:ext cx="2086266" cy="2762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550793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508000"/>
            <a:ext cx="2717732" cy="15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100" spc="8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05 · DEMO &amp; IMPACT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387" y="721717"/>
            <a:ext cx="2387540" cy="306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5150" b="1" kern="100" spc="-206" dirty="0">
                <a:solidFill>
                  <a:srgbClr val="D5D5D5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MAKE THE</a:t>
            </a:r>
            <a:endParaRPr lang="en-US" sz="5150" dirty="0"/>
          </a:p>
          <a:p>
            <a:pPr marL="0" indent="0" algn="l">
              <a:lnSpc>
                <a:spcPct val="78000"/>
              </a:lnSpc>
              <a:buNone/>
            </a:pPr>
            <a:r>
              <a:rPr lang="en-US" sz="5150" b="1" kern="100" spc="-206" dirty="0">
                <a:solidFill>
                  <a:srgbClr val="D5D5D5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SEARCH</a:t>
            </a:r>
            <a:endParaRPr lang="en-US" sz="5150" dirty="0"/>
          </a:p>
          <a:p>
            <a:pPr marL="0" indent="0" algn="l">
              <a:lnSpc>
                <a:spcPct val="78000"/>
              </a:lnSpc>
              <a:buNone/>
            </a:pPr>
            <a:r>
              <a:rPr lang="en-US" sz="5150" b="1" kern="100" spc="-206" dirty="0">
                <a:solidFill>
                  <a:srgbClr val="D5D5D5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VISIBLE.</a:t>
            </a:r>
            <a:endParaRPr lang="en-US" sz="5150" dirty="0"/>
          </a:p>
        </p:txBody>
      </p:sp>
      <p:sp>
        <p:nvSpPr>
          <p:cNvPr id="5" name="Shape 3"/>
          <p:cNvSpPr/>
          <p:nvPr/>
        </p:nvSpPr>
        <p:spPr>
          <a:xfrm>
            <a:off x="533387" y="3974703"/>
            <a:ext cx="596885" cy="1905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4164905"/>
            <a:ext cx="2387540" cy="860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Interactive learning, transparency, strategy comparison, hands-on demonstration.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93690" y="4958952"/>
            <a:ext cx="2933627" cy="1935262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9" name="Text 6"/>
          <p:cNvSpPr/>
          <p:nvPr/>
        </p:nvSpPr>
        <p:spPr>
          <a:xfrm>
            <a:off x="736582" y="5267771"/>
            <a:ext cx="2324042" cy="15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100" spc="8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STEPS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330" y="5668167"/>
            <a:ext cx="1714457" cy="4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[Measured during demo]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27317" y="4955380"/>
            <a:ext cx="2933627" cy="1935262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12" name="Text 9"/>
          <p:cNvSpPr/>
          <p:nvPr/>
        </p:nvSpPr>
        <p:spPr>
          <a:xfrm>
            <a:off x="3663858" y="5267771"/>
            <a:ext cx="2324042" cy="15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100" spc="8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BACKTRACKS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663858" y="5553621"/>
            <a:ext cx="1714457" cy="4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[Measured during demo]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11743" y="4915642"/>
            <a:ext cx="2933627" cy="1935262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15" name="Text 12"/>
          <p:cNvSpPr/>
          <p:nvPr/>
        </p:nvSpPr>
        <p:spPr>
          <a:xfrm>
            <a:off x="6648284" y="5218310"/>
            <a:ext cx="2324042" cy="15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100" spc="8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CONSTRAINT CHECKS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648284" y="5668166"/>
            <a:ext cx="1714457" cy="4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[Measured during demo]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258068" y="4912616"/>
            <a:ext cx="2933627" cy="1935262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18" name="Text 15"/>
          <p:cNvSpPr/>
          <p:nvPr/>
        </p:nvSpPr>
        <p:spPr>
          <a:xfrm>
            <a:off x="9712380" y="5311228"/>
            <a:ext cx="2324042" cy="15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kern="100" spc="8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EXECUTION TIME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712380" y="5803702"/>
            <a:ext cx="1714457" cy="4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[Measured during demo]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26837" y="6472138"/>
            <a:ext cx="76485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kern="100" spc="72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06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E87B69F-FEB3-0EEA-3710-B8A7B3EED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978" y="7096"/>
            <a:ext cx="8122635" cy="49090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69120"/>
          </a:xfrm>
          <a:prstGeom prst="rect">
            <a:avLst/>
          </a:prstGeom>
          <a:solidFill>
            <a:srgbClr val="241B55"/>
          </a:solidFill>
          <a:ln/>
        </p:spPr>
      </p:sp>
      <p:sp>
        <p:nvSpPr>
          <p:cNvPr id="3" name="Text 1"/>
          <p:cNvSpPr/>
          <p:nvPr/>
        </p:nvSpPr>
        <p:spPr>
          <a:xfrm>
            <a:off x="406390" y="304800"/>
            <a:ext cx="1178530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06 · THE NEXT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06390" y="565745"/>
            <a:ext cx="11378915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100" spc="-42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From Sudoku Solver to Algorithm Learning Platform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406390" y="1284188"/>
            <a:ext cx="2844729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6" name="Text 4"/>
          <p:cNvSpPr/>
          <p:nvPr/>
        </p:nvSpPr>
        <p:spPr>
          <a:xfrm>
            <a:off x="406390" y="1539776"/>
            <a:ext cx="11785305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same event-driven architecture can make other constraint-solving algorithms inspectable.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2473821"/>
            <a:ext cx="3860703" cy="2039838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8" name="Text 6"/>
          <p:cNvSpPr/>
          <p:nvPr/>
        </p:nvSpPr>
        <p:spPr>
          <a:xfrm>
            <a:off x="228594" y="2702421"/>
            <a:ext cx="363210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TODAY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594" y="2963366"/>
            <a:ext cx="34035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SOLVER EXPERIENCE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594" y="3304282"/>
            <a:ext cx="3403515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Interactive input, validation, backtracking, constraint checks, replay, metrics, and comparison.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65496" y="2473821"/>
            <a:ext cx="3860703" cy="2039838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12" name="Text 10"/>
          <p:cNvSpPr/>
          <p:nvPr/>
        </p:nvSpPr>
        <p:spPr>
          <a:xfrm>
            <a:off x="4394090" y="2702421"/>
            <a:ext cx="363210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ROADMAP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94090" y="2963366"/>
            <a:ext cx="34035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LEARNING SURFACE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94090" y="3304282"/>
            <a:ext cx="3403515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Advanced heuristics → richer visualizations → learning mode → broader constraint-solving algorithms.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30992" y="2473821"/>
            <a:ext cx="3860703" cy="2039838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16" name="Text 14"/>
          <p:cNvSpPr/>
          <p:nvPr/>
        </p:nvSpPr>
        <p:spPr>
          <a:xfrm>
            <a:off x="8559586" y="2702421"/>
            <a:ext cx="363210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59586" y="2963366"/>
            <a:ext cx="34035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SCALABLE 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59586" y="3304282"/>
            <a:ext cx="340351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Algorithm Engine → Event Recorder → Visualization Layer.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2133" y="4996160"/>
            <a:ext cx="1149956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“We don’t just solve the puzzle — we visualize the decisions that lead to the solution.”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06390" y="4919960"/>
            <a:ext cx="28574" cy="422870"/>
          </a:xfrm>
          <a:prstGeom prst="roundRect">
            <a:avLst>
              <a:gd name="adj" fmla="val 50000"/>
            </a:avLst>
          </a:prstGeom>
          <a:solidFill>
            <a:srgbClr val="9BE1FF"/>
          </a:solidFill>
          <a:ln/>
        </p:spPr>
      </p:sp>
      <p:sp>
        <p:nvSpPr>
          <p:cNvPr id="21" name="Text 19"/>
          <p:cNvSpPr/>
          <p:nvPr/>
        </p:nvSpPr>
        <p:spPr>
          <a:xfrm>
            <a:off x="406390" y="5520630"/>
            <a:ext cx="1178530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THANK YOU · QUESTIONS?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00743" y="6458545"/>
            <a:ext cx="790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07</a:t>
            </a:r>
            <a:endParaRPr lang="en-US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B025E00-0D3D-70F2-2A59-9A509F875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429" y="6509722"/>
            <a:ext cx="2086266" cy="2762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481</Words>
  <Application>Microsoft Office PowerPoint</Application>
  <PresentationFormat>Widescreen</PresentationFormat>
  <Paragraphs>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MuseoModerno Bold</vt:lpstr>
      <vt:lpstr>Exo Bold</vt:lpstr>
      <vt:lpstr>Exo Medium</vt:lpstr>
      <vt:lpstr>Michroma</vt:lpstr>
      <vt:lpstr>Fira Mono</vt:lpstr>
      <vt:lpstr>Exo</vt:lpstr>
      <vt:lpstr>Fira Mono Medium</vt:lpstr>
      <vt:lpstr>Arial</vt:lpstr>
      <vt:lpstr>Exo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Vipul preetham</dc:creator>
  <cp:lastModifiedBy>vipul preetham</cp:lastModifiedBy>
  <cp:revision>3</cp:revision>
  <dcterms:created xsi:type="dcterms:W3CDTF">2026-10-03T05:26:23Z</dcterms:created>
  <dcterms:modified xsi:type="dcterms:W3CDTF">2026-10-03T05:58:29Z</dcterms:modified>
</cp:coreProperties>
</file>